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5" r:id="rId5"/>
    <p:sldId id="260" r:id="rId6"/>
    <p:sldId id="264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7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460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00320-C94B-E6FA-DF84-F6686EA50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80F08-DFC0-4334-1797-C05639BB1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3E2A5-DEEA-EC00-8BBF-CACAA8818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73006-044A-8FF0-8E0C-F2023A10A2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65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AB733-B419-CD0F-6508-8EF812A58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A94F7-F06D-BF5D-8ABD-7B5BE1EFB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61BEFE-A3EB-506C-8566-17B596341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61312-8FAD-D2C0-DBD4-23E75DE02F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84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8778240" cy="20116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73152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Analytics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Default Modeling | Lending Club 2007–2020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lending to the right borrowers?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Hongxu Dong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 – Few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2801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 descr="A close-up of a graph&#10;&#10;AI-generated content may be incorrect.">
            <a:extLst>
              <a:ext uri="{FF2B5EF4-FFF2-40B4-BE49-F238E27FC236}">
                <a16:creationId xmlns:a16="http://schemas.microsoft.com/office/drawing/2014/main" id="{48E52711-BE3A-1B99-5137-58E34F834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8368"/>
            <a:ext cx="7772400" cy="2168499"/>
          </a:xfrm>
          <a:prstGeom prst="rect">
            <a:avLst/>
          </a:prstGeom>
        </p:spPr>
      </p:pic>
      <p:pic>
        <p:nvPicPr>
          <p:cNvPr id="9" name="Picture 8" descr="A graph with a red line&#10;&#10;AI-generated content may be incorrect.">
            <a:extLst>
              <a:ext uri="{FF2B5EF4-FFF2-40B4-BE49-F238E27FC236}">
                <a16:creationId xmlns:a16="http://schemas.microsoft.com/office/drawing/2014/main" id="{E2960178-7B41-828B-F765-782C5B305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26867"/>
            <a:ext cx="7772400" cy="22206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2801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1554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Filter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137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loans only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(Fully Paid / Charged Off)</a:t>
            </a:r>
            <a:endParaRPr lang="en-US" sz="1000" dirty="0"/>
          </a:p>
          <a:p>
            <a:pPr marL="0" indent="0">
              <a:buNone/>
            </a:pPr>
            <a:endParaRPr lang="en-US" sz="10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Current, Late, In Grace Period, etc.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74520" y="214884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39112" y="91440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39112" y="914400"/>
            <a:ext cx="1554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39112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39112" y="1280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30552" y="1664208"/>
            <a:ext cx="137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origination-time features</a:t>
            </a:r>
            <a:endParaRPr lang="en-US" sz="1000" dirty="0"/>
          </a:p>
          <a:p>
            <a:pPr marL="0" indent="0">
              <a:buNone/>
            </a:pPr>
            <a:endParaRPr lang="en-US" sz="10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 log(income), PTI ratio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avg, vintage year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93592" y="214884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58184" y="91440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58184" y="914400"/>
            <a:ext cx="1554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58184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58184" y="1280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9624" y="1664208"/>
            <a:ext cx="137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for missing.</a:t>
            </a:r>
          </a:p>
          <a:p>
            <a:pPr marL="0" indent="0">
              <a:buNone/>
            </a:pPr>
            <a:endParaRPr lang="en-US" sz="10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Fine &amp; Coarse classing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scaling (LR)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OHE for categorical variables</a:t>
            </a:r>
          </a:p>
          <a:p>
            <a:pPr marL="0" indent="0">
              <a:buNone/>
            </a:pPr>
            <a:endParaRPr lang="en-US" sz="10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Multicollinearity check</a:t>
            </a:r>
          </a:p>
          <a:p>
            <a:pPr marL="0" indent="0">
              <a:buNone/>
            </a:pPr>
            <a:endParaRPr lang="en-US" sz="10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Feature Selection based on </a:t>
            </a: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Information Value</a:t>
            </a:r>
          </a:p>
          <a:p>
            <a:pPr marL="0" indent="0">
              <a:buNone/>
            </a:pPr>
            <a:endParaRPr lang="en-US" sz="1000" b="1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9 final features</a:t>
            </a:r>
            <a:endParaRPr lang="en-US" sz="1000" b="1" dirty="0"/>
          </a:p>
        </p:txBody>
      </p:sp>
      <p:sp>
        <p:nvSpPr>
          <p:cNvPr id="22" name="Shape 20"/>
          <p:cNvSpPr/>
          <p:nvPr/>
        </p:nvSpPr>
        <p:spPr>
          <a:xfrm>
            <a:off x="5312664" y="214884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77256" y="91440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77256" y="914400"/>
            <a:ext cx="1554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77256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77256" y="1280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68696" y="1664208"/>
            <a:ext cx="137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=balanced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31736" y="214884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178040" y="91440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96328" y="914400"/>
            <a:ext cx="1554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96328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96328" y="1280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87768" y="1664208"/>
            <a:ext cx="137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Statistic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Coefficient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leakage: only origination-time features used. Post-origination fields (payments, recovery, balance) were excluded.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0961E-0843-0790-151C-CEDBF8CF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F671F1-9ABD-8DA0-960B-A03E6A28BB1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8EEDF6-B36A-D512-CCA1-915770B45EBF}"/>
              </a:ext>
            </a:extLst>
          </p:cNvPr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– Feature Selection based on VIF and IV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13D91B3-19EE-C242-7A5A-6024F4998DE4}"/>
              </a:ext>
            </a:extLst>
          </p:cNvPr>
          <p:cNvSpPr/>
          <p:nvPr/>
        </p:nvSpPr>
        <p:spPr>
          <a:xfrm>
            <a:off x="457200" y="658368"/>
            <a:ext cx="12801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0C0921-D53A-6E51-8406-64B167C9DBE6}"/>
              </a:ext>
            </a:extLst>
          </p:cNvPr>
          <p:cNvSpPr txBox="1"/>
          <p:nvPr/>
        </p:nvSpPr>
        <p:spPr>
          <a:xfrm>
            <a:off x="457200" y="755878"/>
            <a:ext cx="8229600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Information Value (IV) </a:t>
            </a:r>
            <a:r>
              <a:rPr lang="en-US" sz="1400" dirty="0"/>
              <a:t>measures how strongly a variable predicts whether a customer will default (bad) or pay back (good)</a:t>
            </a:r>
            <a:r>
              <a:rPr lang="en-US" sz="1400" dirty="0">
                <a:solidFill>
                  <a:srgbClr val="0A0A0A"/>
                </a:solidFill>
                <a:latin typeface="Google Sans"/>
              </a:rPr>
              <a:t>, with higher IV indicating a stronger, more useful predictor for risk.</a:t>
            </a:r>
          </a:p>
          <a:p>
            <a:endParaRPr lang="en-US" sz="1400" dirty="0">
              <a:solidFill>
                <a:srgbClr val="0A0A0A"/>
              </a:solidFill>
              <a:latin typeface="Google Sans"/>
            </a:endParaRPr>
          </a:p>
          <a:p>
            <a:r>
              <a:rPr lang="en-US" sz="1400" b="1" dirty="0"/>
              <a:t>Variance Inflation Factor (VIF) </a:t>
            </a:r>
            <a:r>
              <a:rPr lang="en-US" sz="1400" dirty="0"/>
              <a:t>detects </a:t>
            </a:r>
            <a:r>
              <a:rPr lang="en-US" sz="1400" b="1" dirty="0"/>
              <a:t>multicollinearity</a:t>
            </a:r>
            <a:r>
              <a:rPr lang="en-US" sz="1400" dirty="0"/>
              <a:t> in features. Removing highly correlated features (VIF &gt;= 10) help to reduce model complexity and improve stability and interpretability.</a:t>
            </a: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8506E89-F1B2-3E7C-1692-B8551C4C2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22939"/>
            <a:ext cx="3794219" cy="2743200"/>
          </a:xfrm>
          <a:prstGeom prst="rect">
            <a:avLst/>
          </a:prstGeom>
        </p:spPr>
      </p:pic>
      <p:pic>
        <p:nvPicPr>
          <p:cNvPr id="10" name="Picture 9" descr="A screen shot of a graph&#10;&#10;AI-generated content may be incorrect.">
            <a:extLst>
              <a:ext uri="{FF2B5EF4-FFF2-40B4-BE49-F238E27FC236}">
                <a16:creationId xmlns:a16="http://schemas.microsoft.com/office/drawing/2014/main" id="{00A8A796-DFF3-F0DC-6968-502E48461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365" y="2046032"/>
            <a:ext cx="431943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29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2801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411619"/>
              </p:ext>
            </p:extLst>
          </p:nvPr>
        </p:nvGraphicFramePr>
        <p:xfrm>
          <a:off x="457200" y="2270236"/>
          <a:ext cx="3383281" cy="1893322"/>
        </p:xfrm>
        <a:graphic>
          <a:graphicData uri="http://schemas.openxmlformats.org/drawingml/2006/table">
            <a:tbl>
              <a:tblPr/>
              <a:tblGrid>
                <a:gridCol w="1029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5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Benchmark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1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0.70 = Good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1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 Statistic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0.30 = Acceptable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5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 Coefficient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0.40 = Good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Picture 10" descr="A graph of a logistic regression&#10;&#10;AI-generated content may be incorrect.">
            <a:extLst>
              <a:ext uri="{FF2B5EF4-FFF2-40B4-BE49-F238E27FC236}">
                <a16:creationId xmlns:a16="http://schemas.microsoft.com/office/drawing/2014/main" id="{85001181-9E9D-8A2A-B0EC-34D4FF3B6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790844"/>
            <a:ext cx="4754880" cy="33963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9CF553-95BF-1642-76D7-7E487ABC0597}"/>
                  </a:ext>
                </a:extLst>
              </p:cNvPr>
              <p:cNvSpPr txBox="1"/>
              <p:nvPr/>
            </p:nvSpPr>
            <p:spPr>
              <a:xfrm>
                <a:off x="457200" y="790844"/>
                <a:ext cx="3383281" cy="113576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b="0" i="0" dirty="0">
                    <a:latin typeface="+mj-lt"/>
                  </a:rPr>
                  <a:t>Logistic Regression:</a:t>
                </a:r>
              </a:p>
              <a:p>
                <a:endParaRPr lang="en-US" sz="1400" b="0" i="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𝐷𝑒𝑓𝑎𝑢𝑙𝑡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𝑁𝑜𝑛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𝑑𝑒𝑓𝑎𝑢𝑙𝑡</m:t>
                          </m:r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9CF553-95BF-1642-76D7-7E487ABC0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790844"/>
                <a:ext cx="3383281" cy="1135760"/>
              </a:xfrm>
              <a:prstGeom prst="rect">
                <a:avLst/>
              </a:prstGeom>
              <a:blipFill>
                <a:blip r:embed="rId4"/>
                <a:stretch>
                  <a:fillRect l="-749" t="-22222" b="-9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7B0A1-FE6C-6363-4823-4FFA9A82B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9A7092-7845-0CAD-9352-24CA1C45EB9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460D29-9F7E-F244-F0A1-D1224ED6033D}"/>
              </a:ext>
            </a:extLst>
          </p:cNvPr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26DA96-E73F-1B5B-9859-CB0D26C5F36E}"/>
              </a:ext>
            </a:extLst>
          </p:cNvPr>
          <p:cNvSpPr/>
          <p:nvPr/>
        </p:nvSpPr>
        <p:spPr>
          <a:xfrm>
            <a:off x="457200" y="658368"/>
            <a:ext cx="12801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BDDFB-F862-B16E-BA65-65A35FC15A80}"/>
              </a:ext>
            </a:extLst>
          </p:cNvPr>
          <p:cNvSpPr txBox="1"/>
          <p:nvPr/>
        </p:nvSpPr>
        <p:spPr>
          <a:xfrm>
            <a:off x="5839326" y="837676"/>
            <a:ext cx="2756034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 i="0" dirty="0">
                <a:latin typeface="+mj-lt"/>
              </a:rPr>
              <a:t>Interpretation of coefficients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latin typeface="+mj-lt"/>
              </a:rPr>
              <a:t>Positive coefficient: higher value indicates higher probability of default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latin typeface="+mj-lt"/>
              </a:rPr>
              <a:t>Negative co</a:t>
            </a:r>
            <a:r>
              <a:rPr lang="en-US" sz="1400" dirty="0">
                <a:latin typeface="+mj-lt"/>
              </a:rPr>
              <a:t>efficient: smaller value indicates lower probability of default</a:t>
            </a:r>
            <a:endParaRPr lang="en-US" sz="1400" b="0" i="0" dirty="0">
              <a:latin typeface="+mj-lt"/>
            </a:endParaRPr>
          </a:p>
        </p:txBody>
      </p:sp>
      <p:pic>
        <p:nvPicPr>
          <p:cNvPr id="6" name="Picture 5" descr="A graph with red and blue bars&#10;&#10;AI-generated content may be incorrect.">
            <a:extLst>
              <a:ext uri="{FF2B5EF4-FFF2-40B4-BE49-F238E27FC236}">
                <a16:creationId xmlns:a16="http://schemas.microsoft.com/office/drawing/2014/main" id="{2515A412-976D-521B-7740-04B751C7E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37676"/>
            <a:ext cx="5212080" cy="415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18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Drivers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2801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1051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051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69848"/>
            <a:ext cx="114300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18688" y="1078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3990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High-rate loans price in risk — and it materialises.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67128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64008" cy="1051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22585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2276856"/>
            <a:ext cx="114300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18688" y="2286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Risk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606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Stretched borrowers lack capacity to absorb shocks.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74136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374136"/>
            <a:ext cx="6400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465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Score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3483864"/>
            <a:ext cx="114300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18688" y="3493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Risk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" y="38130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single predictor of repayment.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9601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64008" cy="1051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1051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(60 months)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89520" y="1069848"/>
            <a:ext cx="114300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607808" y="1078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13990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exposure window → more default opportunities.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167128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2167128"/>
            <a:ext cx="64008" cy="1051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9472" y="22585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cs typeface="Calibri" pitchFamily="34" charset="-120"/>
              </a:rPr>
              <a:t>DTI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89520" y="2276856"/>
            <a:ext cx="114300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07808" y="2286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Risk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19472" y="2606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DTI → more default opportunities.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374136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0" y="3374136"/>
            <a:ext cx="6400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19472" y="3465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 (log)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589520" y="3483864"/>
            <a:ext cx="114300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607808" y="3493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Risk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19472" y="38130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income = stronger repayment capacity.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 &amp;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2801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347472" cy="34747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Threshold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or manually review applications scoring in the top PD decile.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148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2040" y="1124712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Repricing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5544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D/E/F/G (a correlated feature with FICO) loans may be under-priced relative to actual default rates. Review spread adequacy for high-DTI + low-FICO segments.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286207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28803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/ Income Caps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2918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hard DTI caps (e.g. 40%) for 60-month loans and require income verification for applicants with FICO &lt; 650.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6974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2697480"/>
            <a:ext cx="41148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92040" y="286207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28803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 Monitoring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2918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annual cohort performance. 2007–2009 vintages showed 40%+ charge-off rates. But this is due to macroeconomic event (financial crisis in 2009).</a:t>
            </a: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portfolio-level vintage limits.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485</Words>
  <Application>Microsoft Macintosh PowerPoint</Application>
  <PresentationFormat>On-screen Show (16:9)</PresentationFormat>
  <Paragraphs>109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Google Sans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Credit Analytics — PD Model</dc:title>
  <dc:subject>PptxGenJS Presentation</dc:subject>
  <dc:creator>PptxGenJS</dc:creator>
  <cp:lastModifiedBy>Microsoft Office User</cp:lastModifiedBy>
  <cp:revision>36</cp:revision>
  <dcterms:created xsi:type="dcterms:W3CDTF">2026-03-04T21:09:10Z</dcterms:created>
  <dcterms:modified xsi:type="dcterms:W3CDTF">2026-03-05T18:12:23Z</dcterms:modified>
</cp:coreProperties>
</file>